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Robo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11" Type="http://schemas.openxmlformats.org/officeDocument/2006/relationships/slide" Target="slides/slide6.xml"/><Relationship Id="rId22" Type="http://schemas.openxmlformats.org/officeDocument/2006/relationships/font" Target="fonts/Roboto-boldItalic.fntdata"/><Relationship Id="rId10" Type="http://schemas.openxmlformats.org/officeDocument/2006/relationships/slide" Target="slides/slide5.xml"/><Relationship Id="rId21" Type="http://schemas.openxmlformats.org/officeDocument/2006/relationships/font" Target="fonts/Robo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ce37ce4fd5_0_1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ce37ce4fd5_0_1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ce37ce4fd5_0_1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ce37ce4fd5_0_1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ce37ce4fd5_0_1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ce37ce4fd5_0_1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ce37ce4fd5_0_1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ce37ce4fd5_0_1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ce37ce4fd5_0_1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ce37ce4fd5_0_1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ce37ce4fd5_0_1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ce37ce4fd5_0_1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ce37ce4fd5_0_1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ce37ce4fd5_0_1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ce37ce4fd5_0_1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ce37ce4fd5_0_1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ce37ce4fd5_0_1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ce37ce4fd5_0_1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ce37ce4fd5_0_1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ce37ce4fd5_0_1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ce37ce4fd5_0_1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ce37ce4fd5_0_1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ce37ce4fd5_0_1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ce37ce4fd5_0_1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727950" y="1397375"/>
            <a:ext cx="7862100" cy="166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480"/>
              <a:t>Analyzing</a:t>
            </a:r>
            <a:r>
              <a:rPr lang="en" sz="3480"/>
              <a:t> the Relationship Between Athlete Participation &amp; Medal Success at the 2021 Olympics</a:t>
            </a:r>
            <a:endParaRPr sz="3480"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727950" y="3355225"/>
            <a:ext cx="7688100" cy="12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Akshat Saini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Lasell University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DAM II Foundations of Data Analytics II</a:t>
            </a:r>
            <a:br>
              <a:rPr lang="en"/>
            </a:br>
            <a:r>
              <a:rPr lang="en"/>
              <a:t>Darlington Sabasi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4/21/24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265500" y="12045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</a:t>
            </a:r>
            <a:endParaRPr/>
          </a:p>
        </p:txBody>
      </p:sp>
      <p:sp>
        <p:nvSpPr>
          <p:cNvPr id="92" name="Google Shape;92;p14"/>
          <p:cNvSpPr txBox="1"/>
          <p:nvPr>
            <p:ph idx="2" type="body"/>
          </p:nvPr>
        </p:nvSpPr>
        <p:spPr>
          <a:xfrm>
            <a:off x="4994000" y="62202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Char char="●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Uncover the relationship between participating countries and their performance in international sporting events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Char char="●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thlete participation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influenced by factors like funding, interest in sports, &amp; socioeconomic status 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Char char="●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Goal: Determine if sending more athletes correlates with achieving more medals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Char char="●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Findings could influence countries to use more resources on sports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265500" y="12045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Hypothesis</a:t>
            </a:r>
            <a:endParaRPr/>
          </a:p>
        </p:txBody>
      </p:sp>
      <p:sp>
        <p:nvSpPr>
          <p:cNvPr id="98" name="Google Shape;98;p15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Correlative Hypothesis: Is there a relationship between athlete participation and Total Olympic Medals?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50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Correlative Null Hypothesis: There is no relationship between athlete participation and Total Olympic Medals.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50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Correlative Alternative Hypothesis: There is a relationship between athlete participation and Total Olympic Medals.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5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Methodologies</a:t>
            </a:r>
            <a:endParaRPr/>
          </a:p>
        </p:txBody>
      </p:sp>
      <p:sp>
        <p:nvSpPr>
          <p:cNvPr id="104" name="Google Shape;104;p16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5435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10"/>
              <a:buFont typeface="Times New Roman"/>
              <a:buChar char="●"/>
            </a:pPr>
            <a:r>
              <a:rPr lang="en" sz="1210">
                <a:latin typeface="Times New Roman"/>
                <a:ea typeface="Times New Roman"/>
                <a:cs typeface="Times New Roman"/>
                <a:sym typeface="Times New Roman"/>
              </a:rPr>
              <a:t>IV: Total athletes participating per country</a:t>
            </a:r>
            <a:endParaRPr sz="121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21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5435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10"/>
              <a:buFont typeface="Times New Roman"/>
              <a:buChar char="●"/>
            </a:pPr>
            <a:r>
              <a:rPr lang="en" sz="1210">
                <a:latin typeface="Times New Roman"/>
                <a:ea typeface="Times New Roman"/>
                <a:cs typeface="Times New Roman"/>
                <a:sym typeface="Times New Roman"/>
              </a:rPr>
              <a:t>DV: Total medals won per country</a:t>
            </a:r>
            <a:endParaRPr sz="121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21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5435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10"/>
              <a:buFont typeface="Times New Roman"/>
              <a:buChar char="●"/>
            </a:pPr>
            <a:r>
              <a:rPr lang="en" sz="1210">
                <a:latin typeface="Times New Roman"/>
                <a:ea typeface="Times New Roman"/>
                <a:cs typeface="Times New Roman"/>
                <a:sym typeface="Times New Roman"/>
              </a:rPr>
              <a:t>Strong correlation between total athletes and total medals (r = 0.799) =&gt; </a:t>
            </a:r>
            <a:r>
              <a:rPr lang="en" sz="1210">
                <a:latin typeface="Times New Roman"/>
                <a:ea typeface="Times New Roman"/>
                <a:cs typeface="Times New Roman"/>
                <a:sym typeface="Times New Roman"/>
              </a:rPr>
              <a:t>Used correlation </a:t>
            </a:r>
            <a:r>
              <a:rPr lang="en" sz="1210">
                <a:latin typeface="Times New Roman"/>
                <a:ea typeface="Times New Roman"/>
                <a:cs typeface="Times New Roman"/>
                <a:sym typeface="Times New Roman"/>
              </a:rPr>
              <a:t>and</a:t>
            </a:r>
            <a:r>
              <a:rPr lang="en" sz="1210">
                <a:latin typeface="Times New Roman"/>
                <a:ea typeface="Times New Roman"/>
                <a:cs typeface="Times New Roman"/>
                <a:sym typeface="Times New Roman"/>
              </a:rPr>
              <a:t> regression testing to analyze the relationship </a:t>
            </a:r>
            <a:endParaRPr sz="121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21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5435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10"/>
              <a:buFont typeface="Times New Roman"/>
              <a:buChar char="●"/>
            </a:pPr>
            <a:r>
              <a:rPr lang="en" sz="1210">
                <a:latin typeface="Times New Roman"/>
                <a:ea typeface="Times New Roman"/>
                <a:cs typeface="Times New Roman"/>
                <a:sym typeface="Times New Roman"/>
              </a:rPr>
              <a:t>Explored GDP per Capita but found a weak correlation with total medals (r = 0.31)</a:t>
            </a:r>
            <a:endParaRPr sz="121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765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Collection and Sampling</a:t>
            </a:r>
            <a:endParaRPr/>
          </a:p>
        </p:txBody>
      </p:sp>
      <p:sp>
        <p:nvSpPr>
          <p:cNvPr id="110" name="Google Shape;110;p17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19405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30"/>
              <a:buFont typeface="Times New Roman"/>
              <a:buChar char="●"/>
            </a:pPr>
            <a:r>
              <a:rPr lang="en" sz="1430">
                <a:latin typeface="Times New Roman"/>
                <a:ea typeface="Times New Roman"/>
                <a:cs typeface="Times New Roman"/>
                <a:sym typeface="Times New Roman"/>
              </a:rPr>
              <a:t>Used web-related data</a:t>
            </a:r>
            <a:endParaRPr sz="143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43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9405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430"/>
              <a:buFont typeface="Times New Roman"/>
              <a:buChar char="●"/>
            </a:pPr>
            <a:r>
              <a:rPr lang="en" sz="1430">
                <a:latin typeface="Times New Roman"/>
                <a:ea typeface="Times New Roman"/>
                <a:cs typeface="Times New Roman"/>
                <a:sym typeface="Times New Roman"/>
              </a:rPr>
              <a:t>Altered datasets to make it usable</a:t>
            </a:r>
            <a:endParaRPr sz="143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43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9405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430"/>
              <a:buFont typeface="Times New Roman"/>
              <a:buChar char="●"/>
            </a:pPr>
            <a:r>
              <a:rPr lang="en" sz="1430">
                <a:latin typeface="Times New Roman"/>
                <a:ea typeface="Times New Roman"/>
                <a:cs typeface="Times New Roman"/>
                <a:sym typeface="Times New Roman"/>
              </a:rPr>
              <a:t>Sample of 79 countries, total athletes, &amp; total medals</a:t>
            </a:r>
            <a:endParaRPr sz="143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43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9405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430"/>
              <a:buFont typeface="Times New Roman"/>
              <a:buChar char="●"/>
            </a:pPr>
            <a:r>
              <a:rPr lang="en" sz="1430">
                <a:latin typeface="Times New Roman"/>
                <a:ea typeface="Times New Roman"/>
                <a:cs typeface="Times New Roman"/>
                <a:sym typeface="Times New Roman"/>
              </a:rPr>
              <a:t>Central Tendency, Correlation Testing, Regression Testing, &amp; Bootstrap Model</a:t>
            </a:r>
            <a:endParaRPr sz="143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43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>
            <p:ph type="title"/>
          </p:nvPr>
        </p:nvSpPr>
        <p:spPr>
          <a:xfrm>
            <a:off x="251875" y="1789488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Overview: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Central Tendency</a:t>
            </a:r>
            <a:endParaRPr/>
          </a:p>
        </p:txBody>
      </p:sp>
      <p:pic>
        <p:nvPicPr>
          <p:cNvPr id="116" name="Google Shape;116;p18"/>
          <p:cNvPicPr preferRelativeResize="0"/>
          <p:nvPr/>
        </p:nvPicPr>
        <p:blipFill rotWithShape="1">
          <a:blip r:embed="rId3">
            <a:alphaModFix/>
          </a:blip>
          <a:srcRect b="0" l="-853" r="59639" t="47304"/>
          <a:stretch/>
        </p:blipFill>
        <p:spPr>
          <a:xfrm>
            <a:off x="5475375" y="1224875"/>
            <a:ext cx="2705825" cy="269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>
            <p:ph type="title"/>
          </p:nvPr>
        </p:nvSpPr>
        <p:spPr>
          <a:xfrm>
            <a:off x="265500" y="17895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Overview: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Correlation Testing</a:t>
            </a:r>
            <a:endParaRPr/>
          </a:p>
        </p:txBody>
      </p:sp>
      <p:pic>
        <p:nvPicPr>
          <p:cNvPr id="122" name="Google Shape;12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7775" y="143050"/>
            <a:ext cx="3361925" cy="280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27775" y="3103800"/>
            <a:ext cx="3361925" cy="188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>
            <p:ph type="title"/>
          </p:nvPr>
        </p:nvSpPr>
        <p:spPr>
          <a:xfrm>
            <a:off x="285925" y="17895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Overview: Regression Testing</a:t>
            </a:r>
            <a:endParaRPr/>
          </a:p>
        </p:txBody>
      </p:sp>
      <p:pic>
        <p:nvPicPr>
          <p:cNvPr id="129" name="Google Shape;129;p20"/>
          <p:cNvPicPr preferRelativeResize="0"/>
          <p:nvPr/>
        </p:nvPicPr>
        <p:blipFill rotWithShape="1">
          <a:blip r:embed="rId3">
            <a:alphaModFix/>
          </a:blip>
          <a:srcRect b="0" l="0" r="37402" t="33752"/>
          <a:stretch/>
        </p:blipFill>
        <p:spPr>
          <a:xfrm>
            <a:off x="5745925" y="2796575"/>
            <a:ext cx="2285386" cy="2153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0"/>
          <p:cNvPicPr preferRelativeResize="0"/>
          <p:nvPr/>
        </p:nvPicPr>
        <p:blipFill rotWithShape="1">
          <a:blip r:embed="rId4">
            <a:alphaModFix/>
          </a:blip>
          <a:srcRect b="0" l="0" r="7209" t="39929"/>
          <a:stretch/>
        </p:blipFill>
        <p:spPr>
          <a:xfrm>
            <a:off x="5342600" y="881537"/>
            <a:ext cx="3092026" cy="171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0"/>
          <p:cNvPicPr preferRelativeResize="0"/>
          <p:nvPr/>
        </p:nvPicPr>
        <p:blipFill rotWithShape="1">
          <a:blip r:embed="rId4">
            <a:alphaModFix/>
          </a:blip>
          <a:srcRect b="71643" l="0" r="37102" t="24046"/>
          <a:stretch/>
        </p:blipFill>
        <p:spPr>
          <a:xfrm>
            <a:off x="5468175" y="406100"/>
            <a:ext cx="2840850" cy="27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>
            <p:ph type="title"/>
          </p:nvPr>
        </p:nvSpPr>
        <p:spPr>
          <a:xfrm>
            <a:off x="251875" y="17895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Overview: Bootstrap Testing</a:t>
            </a:r>
            <a:endParaRPr/>
          </a:p>
        </p:txBody>
      </p:sp>
      <p:pic>
        <p:nvPicPr>
          <p:cNvPr id="137" name="Google Shape;137;p21"/>
          <p:cNvPicPr preferRelativeResize="0"/>
          <p:nvPr/>
        </p:nvPicPr>
        <p:blipFill rotWithShape="1">
          <a:blip r:embed="rId3">
            <a:alphaModFix/>
          </a:blip>
          <a:srcRect b="2954" l="0" r="0" t="3857"/>
          <a:stretch/>
        </p:blipFill>
        <p:spPr>
          <a:xfrm>
            <a:off x="5187413" y="619250"/>
            <a:ext cx="3627349" cy="204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57687" y="3022725"/>
            <a:ext cx="3886800" cy="74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Hypothesis Testing</a:t>
            </a:r>
            <a:endParaRPr/>
          </a:p>
        </p:txBody>
      </p:sp>
      <p:sp>
        <p:nvSpPr>
          <p:cNvPr id="144" name="Google Shape;144;p22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Hypothesis Test using r =&gt; P-Value = 0.0 &lt; 0.05 =&gt; Reject </a:t>
            </a: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the</a:t>
            </a: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 Null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i="1"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50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Bootstrap Model =&gt; 0 is not in 95% confidence interval for the true slope of the regression line =&gt; Reject the Null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Interpretation of Results</a:t>
            </a:r>
            <a:endParaRPr/>
          </a:p>
        </p:txBody>
      </p:sp>
      <p:sp>
        <p:nvSpPr>
          <p:cNvPr id="150" name="Google Shape;150;p23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Times New Roman"/>
              <a:buChar char="●"/>
            </a:pP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Rejection of null hypothesis suggests a relationship between total athletes and total medals for a country.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Times New Roman"/>
              <a:buChar char="●"/>
            </a:pP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Frequentist approach used due to fixed, non-random values of parameters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Times New Roman"/>
              <a:buChar char="●"/>
            </a:pP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Correlation, regression, &amp; confidence interval methods align with frequentist inferential statistics approach.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56" name="Google Shape;156;p24"/>
          <p:cNvSpPr txBox="1"/>
          <p:nvPr>
            <p:ph idx="2" type="body"/>
          </p:nvPr>
        </p:nvSpPr>
        <p:spPr>
          <a:xfrm>
            <a:off x="4932700" y="963700"/>
            <a:ext cx="3837000" cy="310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Char char="●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Strong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, positive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correlation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 between participating athletes &amp; medals, supported by regression and hypothesis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testing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 =&gt; low p-value =&gt; rejection of null hypothesis.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5000"/>
              </a:lnSpc>
              <a:spcBef>
                <a:spcPts val="1200"/>
              </a:spcBef>
              <a:spcAft>
                <a:spcPts val="0"/>
              </a:spcAft>
              <a:buSzPts val="533"/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8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Char char="●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Increased participation can increase medal chances, interest in sports, open new economic avenues, &amp; improve overall health indicators 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8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8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Char char="●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Geography, socioeconomic status, and politics can influence medal counts. Population size and financial constraints may limit athlete participation. 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8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8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Char char="●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Data limited to one event, necessitating further research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5000"/>
              </a:lnSpc>
              <a:spcBef>
                <a:spcPts val="1200"/>
              </a:spcBef>
              <a:spcAft>
                <a:spcPts val="1200"/>
              </a:spcAft>
              <a:buSzPts val="533"/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5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162" name="Google Shape;162;p25"/>
          <p:cNvSpPr txBox="1"/>
          <p:nvPr>
            <p:ph idx="2" type="body"/>
          </p:nvPr>
        </p:nvSpPr>
        <p:spPr>
          <a:xfrm>
            <a:off x="4776000" y="69015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850">
                <a:latin typeface="Times New Roman"/>
                <a:ea typeface="Times New Roman"/>
                <a:cs typeface="Times New Roman"/>
                <a:sym typeface="Times New Roman"/>
              </a:rPr>
              <a:t>Adhikari, Adi, DeNero, J., &amp; Wagner, D. (2022). </a:t>
            </a:r>
            <a:r>
              <a:rPr i="1" lang="en" sz="850">
                <a:latin typeface="Times New Roman"/>
                <a:ea typeface="Times New Roman"/>
                <a:cs typeface="Times New Roman"/>
                <a:sym typeface="Times New Roman"/>
              </a:rPr>
              <a:t>Computational and inferential thinking: The Foundations of Data Science</a:t>
            </a:r>
            <a:r>
              <a:rPr lang="en" sz="850">
                <a:latin typeface="Times New Roman"/>
                <a:ea typeface="Times New Roman"/>
                <a:cs typeface="Times New Roman"/>
                <a:sym typeface="Times New Roman"/>
              </a:rPr>
              <a:t>. Computational and Inferential Thinking: The Foundations of Data Science - Computational and Inferential Thinking. https://inferentialthinking.com/chapters/intro.html </a:t>
            </a:r>
            <a:endParaRPr sz="8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8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i="1" lang="en" sz="850">
                <a:latin typeface="Times New Roman"/>
                <a:ea typeface="Times New Roman"/>
                <a:cs typeface="Times New Roman"/>
                <a:sym typeface="Times New Roman"/>
              </a:rPr>
              <a:t>The Beginner’s Guide to Statistical Analysis: 5 Steps &amp; Examples</a:t>
            </a:r>
            <a:r>
              <a:rPr lang="en" sz="850">
                <a:latin typeface="Times New Roman"/>
                <a:ea typeface="Times New Roman"/>
                <a:cs typeface="Times New Roman"/>
                <a:sym typeface="Times New Roman"/>
              </a:rPr>
              <a:t>. Scribbr. (2020). https://www.scribbr.com/category/statistics/ </a:t>
            </a:r>
            <a:endParaRPr sz="8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8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850">
                <a:latin typeface="Times New Roman"/>
                <a:ea typeface="Times New Roman"/>
                <a:cs typeface="Times New Roman"/>
                <a:sym typeface="Times New Roman"/>
              </a:rPr>
              <a:t>Kozyrkov, C. (2023, April 30). </a:t>
            </a:r>
            <a:r>
              <a:rPr i="1" lang="en" sz="850">
                <a:latin typeface="Times New Roman"/>
                <a:ea typeface="Times New Roman"/>
                <a:cs typeface="Times New Roman"/>
                <a:sym typeface="Times New Roman"/>
              </a:rPr>
              <a:t>Statistics: Are you bayesian or frequentist?</a:t>
            </a:r>
            <a:r>
              <a:rPr lang="en" sz="850">
                <a:latin typeface="Times New Roman"/>
                <a:ea typeface="Times New Roman"/>
                <a:cs typeface="Times New Roman"/>
                <a:sym typeface="Times New Roman"/>
              </a:rPr>
              <a:t>. Medium. https://towardsdatascience.com/statistics-are-you-bayesian-or-frequentist-4943f953f21b </a:t>
            </a:r>
            <a:endParaRPr sz="8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8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850">
                <a:latin typeface="Times New Roman"/>
                <a:ea typeface="Times New Roman"/>
                <a:cs typeface="Times New Roman"/>
                <a:sym typeface="Times New Roman"/>
              </a:rPr>
              <a:t>Mehra, G. (2022, April 7). </a:t>
            </a:r>
            <a:r>
              <a:rPr i="1" lang="en" sz="850">
                <a:latin typeface="Times New Roman"/>
                <a:ea typeface="Times New Roman"/>
                <a:cs typeface="Times New Roman"/>
                <a:sym typeface="Times New Roman"/>
              </a:rPr>
              <a:t>Hypothesis testing and confidence intervals using Python</a:t>
            </a:r>
            <a:r>
              <a:rPr lang="en" sz="850">
                <a:latin typeface="Times New Roman"/>
                <a:ea typeface="Times New Roman"/>
                <a:cs typeface="Times New Roman"/>
                <a:sym typeface="Times New Roman"/>
              </a:rPr>
              <a:t>. Medium. https://medium.com/gaurang-portfolio/hypothesis-testing-and-confidence-intervals-using-python-a609dbfb5b12 </a:t>
            </a:r>
            <a:endParaRPr sz="8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8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r>
              <a:rPr lang="en" sz="850">
                <a:latin typeface="Times New Roman"/>
                <a:ea typeface="Times New Roman"/>
                <a:cs typeface="Times New Roman"/>
                <a:sym typeface="Times New Roman"/>
              </a:rPr>
              <a:t>Sarkhel, A. P. (2021, August 17). </a:t>
            </a:r>
            <a:r>
              <a:rPr i="1" lang="en" sz="850">
                <a:latin typeface="Times New Roman"/>
                <a:ea typeface="Times New Roman"/>
                <a:cs typeface="Times New Roman"/>
                <a:sym typeface="Times New Roman"/>
              </a:rPr>
              <a:t>2021 olympics in Tokyo</a:t>
            </a:r>
            <a:r>
              <a:rPr lang="en" sz="850">
                <a:latin typeface="Times New Roman"/>
                <a:ea typeface="Times New Roman"/>
                <a:cs typeface="Times New Roman"/>
                <a:sym typeface="Times New Roman"/>
              </a:rPr>
              <a:t>. Kaggle. https://www.kaggle.com/datasets/arjunprasadsarkhel/2021-olympics-in-tokyo </a:t>
            </a:r>
            <a:endParaRPr sz="1225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